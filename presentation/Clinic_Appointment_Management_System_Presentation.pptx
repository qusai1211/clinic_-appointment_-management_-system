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FINAL PROJECT #9</a:t>
            </a:r>
          </a:p>
          <a:p>
            <a:pPr>
              <a:defRPr sz="3200" b="1">
                <a:solidFill>
                  <a:srgbClr val="1A365D"/>
                </a:solidFill>
              </a:defRPr>
            </a:pPr>
            <a:r>
              <a:t>Clinic Appointment Management System</a:t>
            </a:r>
          </a:p>
          <a:p>
            <a:pPr>
              <a:spcAft>
                <a:spcPts val="2000"/>
              </a:spcAft>
              <a:defRPr sz="1600">
                <a:solidFill>
                  <a:srgbClr val="64748B"/>
                </a:solidFill>
              </a:defRPr>
            </a:pPr>
            <a:r>
              <a:t>Al-Amal Medical Center — Enterprise Full-Stack Healthcare Platform</a:t>
            </a:r>
          </a:p>
          <a:p>
            <a:pPr>
              <a:spcAft>
                <a:spcPts val="2500"/>
              </a:spcAft>
              <a:defRPr sz="1300">
                <a:solidFill>
                  <a:srgbClr val="1E293B"/>
                </a:solidFill>
              </a:defRPr>
            </a:pPr>
            <a:r>
              <a:t>• Technology Stack: Oracle Database 19c | ASP.NET Core 8 Web API | Angular 21</a:t>
            </a:r>
            <a:br/>
            <a:r>
              <a:t>• Key Capabilities: Double-Booking Concurrency Protection, Row-Level Locks, Live Admin Analytics, JWT Auth</a:t>
            </a:r>
            <a:br/>
            <a:r>
              <a:t>• Academic Evaluation: Final Project University Specification Integration &amp; Verification</a:t>
            </a:r>
          </a:p>
          <a:p>
            <a:pPr>
              <a:defRPr sz="1200" b="1">
                <a:solidFill>
                  <a:srgbClr val="1A365D"/>
                </a:solidFill>
              </a:defRPr>
            </a:pPr>
            <a:r>
              <a:t>Presented by Full-Stack Engineering Team | University Computer Science /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 &amp;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Mission &amp; Core Objectives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Digital Transformation: Transition clinic appointment workflows from legacy manual recording to an automated digital portal.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Patient Convenience: Patients can discover specialized doctors, review verified schedules, select exact available slots, and obtain immediate confirmation.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Concurrency &amp; Integrity: Guarantee zero double-bookings under concurrent client requests using Oracle PL/SQL row-level locking.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Administrative Empowerment: Real-time clinical KPI dashboard, dynamic specialty management, doctor profiles, and appointment lifecycle tracking.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Authoritative Compliance: Full conformity with University Assignment Specification #9 requirements and architectural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D9488"/>
                </a:solidFill>
              </a:defRPr>
            </a:pPr>
            <a:r>
              <a:t>Architectural Highlights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Frontend (Angular 21): Modern Single Page Application with standalone components, Zone.js change detection, reactive forms, and responsive LESS styling.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Backend (ASP.NET Core 8 Web API): Clean 3-tier modular architecture (API, Core, Infrastructure) utilizing Dapper ORM and Oracle.ManagedDataAccess.Core.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Database (Oracle 19c Enterprise): Relational normalized schema, foreign key cascades, constraints, views, and stored procedures with atomic transactions.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Security: Salted SHA-256 password hashing for administrators, JWT Bearer tokens with Claims-based authorization, and protected Angular route guards.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Zero-Stub Integration: All UI views and analytics connect to real running Oracle database instances with live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High-Level 3-Tier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Presentation Tier</a:t>
            </a:r>
          </a:p>
          <a:p>
            <a:pPr>
              <a:spcAft>
                <a:spcPts val="1400"/>
              </a:spcAft>
              <a:defRPr sz="1200" b="1">
                <a:solidFill>
                  <a:srgbClr val="0D9488"/>
                </a:solidFill>
              </a:defRPr>
            </a:pPr>
            <a:r>
              <a:t>Angular 21 Single Page App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Modern Component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Reactive Forms &amp; Client Validation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RxJS &amp; HttpClient Services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Role-Based Route Guards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Toast Notification Feedback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Responsive Mobile / Desktop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Application Tier</a:t>
            </a:r>
          </a:p>
          <a:p>
            <a:pPr>
              <a:spcAft>
                <a:spcPts val="1400"/>
              </a:spcAft>
              <a:defRPr sz="1200" b="1">
                <a:solidFill>
                  <a:srgbClr val="0D9488"/>
                </a:solidFill>
              </a:defRPr>
            </a:pPr>
            <a:r>
              <a:t>ASP.NET Core 8 Web API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Clean 3-Tier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Controllers / Services / Repositories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JWT Bearer Authentication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Dapper High-Performance Micro-ORM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CORS &amp; Swagger OpenAPI Spec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Centralized Exception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Database Tier</a:t>
            </a:r>
          </a:p>
          <a:p>
            <a:pPr>
              <a:spcAft>
                <a:spcPts val="1400"/>
              </a:spcAft>
              <a:defRPr sz="1200" b="1">
                <a:solidFill>
                  <a:srgbClr val="0D9488"/>
                </a:solidFill>
              </a:defRPr>
            </a:pPr>
            <a:r>
              <a:t>Oracle Database 19c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7 Relational Tables &amp; Constraints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PL/SQL Package (PKG_CLINIC_OPERATIONS)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Row-Level FOR UPDATE Concurrency Locks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Aggregation Views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ACID Transaction Compliance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Oracle.ManagedDataAccess.Core Driver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Oracle Database Architecture &amp; Relational Schema</a:t>
            </a:r>
          </a:p>
        </p:txBody>
      </p:sp>
      <p:pic>
        <p:nvPicPr>
          <p:cNvPr id="5" name="Picture 4" descr="erd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8103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Database Structure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Specialties: Medical departments (Cardiology, Pediatrics, Dermatology, etc.).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Doctors: Physician profiles, specialization foreign key, consultation fees, and experience.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DoctorWorkingHours: Weekly operating schedules by day with start/end time windows.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AppointmentSlots: Specific bookable time slots per doctor with date and availability flag.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Patients: Registered patient registry with unique phone &amp; email constraints.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Appointments: Persisted bookings linked to patient, doctor, and slot with statuses.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Admins: Secure administrative credentials storing salted SHA-256 hashes.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PL/SQL Stored Procedures &amp; Double-Booking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Package PKG_CLINIC_OPERATIONS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⚙ REGISTER_PATIENT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Atomically registers or returns existing patient by phone number. Prevents duplicate identities.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⚙ BOOK_APPOINTMENT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Executes pessimistic slot locking using SELECT ... FOR UPDATE. Validates slot doctor and date. Inserts appointment and flips slot availability to 0 atomically.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⚙ CANCEL_APPOINTMENT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Updates appointment status to 'Cancelled' and automatically releases the associated slot back to Available (1).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⚙ UPDATE_APPOINTMENT_STATUS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Safely transitions appointment states (Scheduled -&gt; Completed / Cancelled). Reopens slot if cancelled.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Double-Booking Prevention Mechanism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🔒 The Problem: When two patients simultaneously click 'Confirm Booking' for the exact same slot, naive systems create duplicate conflicting appointments.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🔒 Oracle Row-Level Lock: The procedure executes:</a:t>
            </a:r>
            <a:br/>
            <a:r>
              <a:t>SELECT IsAvailable INTO v_IsAvailable FROM AppointmentSlots WHERE SlotId = p_SlotId FOR UPDATE;</a:t>
            </a:r>
            <a:br/>
            <a:r>
              <a:t>This immediately serializes competing transactions at the database engine level.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🔒 Immediate Rejection: If v_IsAvailable = 0, the procedure raises ORA-20002 ('Selected appointment slot is no longer available').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🔒 API Conflict Mapping: The ASP.NET Core service catches the Oracle exception and translates it into HTTP 409 Conflict with a clear message.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🔒 Automated Test Verified: Concurrency test verified that parallel requests for the same slot result in exactly 1 successful booking and 1 HTTP 409 rejection.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ASP.NET Core Web API Backend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Core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Domain Models &amp; Interfaces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Pure C# domain models (Doctor, Patient, Appointment, Slot)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Strongly typed DTOs for requests and responses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Repository &amp; Service interface abstractions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Zero external dependencies for maximum testability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Infrastructure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Oracle Data Access &amp; Services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Dapper high-speed micro-ORM queries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Oracle.ManagedDataAccess.Core integration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PL/SQL package stored procedure execution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DynamicParameters for input/output cursors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Salted SHA-256 password hashing logic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JWT token generation with symmetric security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API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Controllers &amp; Middleware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RESTful endpoints adhering to HTTP standards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JWT Bearer Claims-based Authorization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CORS policy enabled for Angular frontend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Swagger / OpenAPI interactive UI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HTTP Status Codes: 200, 201, 400, 404, 409 Conflict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Angular 21 Frontend Architecture &amp; User Experience</a:t>
            </a:r>
          </a:p>
        </p:txBody>
      </p:sp>
      <p:pic>
        <p:nvPicPr>
          <p:cNvPr id="5" name="Picture 4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190035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Key Frontend Highlights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Standalone Architecture: Built on Angular 21 with modern standalone components and zero module boilerplate.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Zone.js Integration: Configured provideZoneChangeDetection with markForCheck() for deterministic reactivity across all asynchronous RxJS calls.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Form Validation: Angular ReactiveForms with real-time feedback for required fields, phone numbers, and email format.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Unified Navigation: Global Navbar with responsive mobile toggle, breadcrumbs, and deep-link query parameter support.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Notification Toasts: Non-intrusive floating alerts for successful actions and informative error diagnostics.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✔ Strict Route Guarding: Admin portal secured via CanActivate AuthGuard redirecting unauthenticated traffic to /admin/login.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Patient Booking Workflow</a:t>
            </a:r>
          </a:p>
        </p:txBody>
      </p:sp>
      <p:pic>
        <p:nvPicPr>
          <p:cNvPr id="5" name="Picture 4" descr="04_Doctor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5313878"/>
          </a:xfrm>
          <a:prstGeom prst="rect">
            <a:avLst/>
          </a:prstGeom>
        </p:spPr>
      </p:pic>
      <p:pic>
        <p:nvPicPr>
          <p:cNvPr id="6" name="Picture 5" descr="07_Appointment_Confi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714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solidFill>
            <a:srgbClr val="1A365D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5-Step Seamless Patient Booking Journey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Step 1: Explore Specialties &amp; Doctors  ➔  Step 2: Review Schedule &amp; Select Available Slot  ➔  Step 3: Enter Patient Details  ➔  Step 4: Atomic DB Reservation  ➔  Step 5: Instant Confirmation with Unique Reference 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Dashboard &amp; Operational Management</a:t>
            </a:r>
          </a:p>
        </p:txBody>
      </p:sp>
      <p:pic>
        <p:nvPicPr>
          <p:cNvPr id="5" name="Picture 4" descr="10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95454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Operational Controls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Live KPI Stats: Real-time queries for total doctors, patients, appointments, scheduled, completed, and cancelled counts.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Specialty Analytics Chart: Visual distribution of appointments grouped by medical specialty from Vw_AppointmentsBySpecialty.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Doctor Management: Add new doctors, update consultation fees, configure working hours and generate available slots.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Specialty Catalog: Dynamic administration of clinical departments, names, descriptions, and icon mappings.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Patient Directory: Searchable patient registry displaying complete appointment histories.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Appointment Lifecycle: Real-time status updates (Completed, Cancelled) with automatic slot reopening upon cancellation.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Quality Assurance, Concurrency &amp; E2E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Build Quality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100% Zero-Error Compilation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ASP.NET Core Web API: Built with 0 Errors, 0 Warnings across all 3 projects.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Angular 21 Frontend: Built with 0 Errors and production optimization.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Oracle PL/SQL: All tables, views, triggers, and package compiled with zero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End-to-End Browser QA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Automated Playwright Suite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14 comprehensive automated browser test scenarios covering all user &amp; admin journeys.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17 high-resolution screenshots verifying desktop and mobile viewports.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Zero unhandled browser console errors during entire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Integration &amp; Stress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</a:defRPr>
            </a:pPr>
            <a:r>
              <a:t>Live Backend &amp; DB Verification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Pessimistic locking verified under simulated race conditions (HTTP 409 rejection).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JWT token expiration and route protection verified.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Referential integrity verified: foreign key cascades and slot state consistency.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 APPOINTMENT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Deliverables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University Assignment Deliverables Checklist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1. Oracle Database Script: database_project/ClinicAppointmentManagementSystem.sql — Complete schema, constraints, views, and PL/SQL package with sample data.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2. Entity Relationship Diagram (ERD): database_project/erdplus.png — Full relational ERD detailing primary keys, foreign keys, and cardinalities.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3. ASP.NET Core Web API: Clinic Management System/ — 3-tier clean architecture with Dapper, JWT authentication, and Swagger.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4. Angular Frontend Application: Frontend_Clinic/ — Complete Angular 21 Single Page Application with all 14 required public and admin pages.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5. Main Website Screenshots: screenshots/ — 17 high-resolution screenshots covering desktop workflows, admin portal, and mobile responsive views.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6. PowerPoint Presentation: presentation/Clinic_Appointment_Management_System_Presentation.pptx — Comprehensive technical overview slide deck.</a:t>
            </a:r>
          </a:p>
          <a:p>
            <a:pPr>
              <a:spcBef>
                <a:spcPts val="1000"/>
              </a:spcBef>
              <a:defRPr sz="1200" b="1">
                <a:solidFill>
                  <a:srgbClr val="0D9488"/>
                </a:solidFill>
              </a:defRPr>
            </a:pPr>
            <a:r>
              <a:t>Conclusion: The Clinic Appointment Management System has been fully implemented, integrated, and validated with genuine Oracle 19c database operations, providing a robust, concurrent, and user-friendly healthcare management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